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Belleza" charset="1" panose="02000503050000020003"/>
      <p:regular r:id="rId13"/>
    </p:embeddedFont>
    <p:embeddedFont>
      <p:font typeface="Canva Sans" charset="1" panose="020B0503030501040103"/>
      <p:regular r:id="rId14"/>
    </p:embeddedFont>
    <p:embeddedFont>
      <p:font typeface="Glacial Indifference" charset="1" panose="000000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429219" y="42954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742992" y="42954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429714" y="574241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3743486" y="574241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485905" y="283915"/>
            <a:ext cx="7315200" cy="904425"/>
          </a:xfrm>
          <a:custGeom>
            <a:avLst/>
            <a:gdLst/>
            <a:ahLst/>
            <a:cxnLst/>
            <a:rect r="r" b="b" t="t" l="l"/>
            <a:pathLst>
              <a:path h="904425" w="7315200">
                <a:moveTo>
                  <a:pt x="0" y="0"/>
                </a:moveTo>
                <a:lnTo>
                  <a:pt x="7315200" y="0"/>
                </a:lnTo>
                <a:lnTo>
                  <a:pt x="7315200" y="904425"/>
                </a:lnTo>
                <a:lnTo>
                  <a:pt x="0" y="9044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5486400" y="9094830"/>
            <a:ext cx="7315200" cy="904425"/>
          </a:xfrm>
          <a:custGeom>
            <a:avLst/>
            <a:gdLst/>
            <a:ahLst/>
            <a:cxnLst/>
            <a:rect r="r" b="b" t="t" l="l"/>
            <a:pathLst>
              <a:path h="904425" w="7315200">
                <a:moveTo>
                  <a:pt x="0" y="904425"/>
                </a:moveTo>
                <a:lnTo>
                  <a:pt x="7315200" y="904425"/>
                </a:lnTo>
                <a:lnTo>
                  <a:pt x="7315200" y="0"/>
                </a:lnTo>
                <a:lnTo>
                  <a:pt x="0" y="0"/>
                </a:lnTo>
                <a:lnTo>
                  <a:pt x="0" y="90442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354611" y="3614693"/>
            <a:ext cx="13577789" cy="3489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492808"/>
                </a:solidFill>
                <a:latin typeface="Belleza"/>
                <a:ea typeface="Belleza"/>
                <a:cs typeface="Belleza"/>
                <a:sym typeface="Belleza"/>
              </a:rPr>
              <a:t>Early Italian Immigration </a:t>
            </a:r>
          </a:p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492808"/>
                </a:solidFill>
                <a:latin typeface="Belleza"/>
                <a:ea typeface="Belleza"/>
                <a:cs typeface="Belleza"/>
                <a:sym typeface="Belleza"/>
              </a:rPr>
              <a:t>to Canada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429219" y="42954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742992" y="42954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429714" y="574241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3743486" y="574241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485905" y="283915"/>
            <a:ext cx="7315200" cy="904425"/>
          </a:xfrm>
          <a:custGeom>
            <a:avLst/>
            <a:gdLst/>
            <a:ahLst/>
            <a:cxnLst/>
            <a:rect r="r" b="b" t="t" l="l"/>
            <a:pathLst>
              <a:path h="904425" w="7315200">
                <a:moveTo>
                  <a:pt x="0" y="0"/>
                </a:moveTo>
                <a:lnTo>
                  <a:pt x="7315200" y="0"/>
                </a:lnTo>
                <a:lnTo>
                  <a:pt x="7315200" y="904425"/>
                </a:lnTo>
                <a:lnTo>
                  <a:pt x="0" y="9044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5486400" y="9094830"/>
            <a:ext cx="7315200" cy="904425"/>
          </a:xfrm>
          <a:custGeom>
            <a:avLst/>
            <a:gdLst/>
            <a:ahLst/>
            <a:cxnLst/>
            <a:rect r="r" b="b" t="t" l="l"/>
            <a:pathLst>
              <a:path h="904425" w="7315200">
                <a:moveTo>
                  <a:pt x="0" y="904425"/>
                </a:moveTo>
                <a:lnTo>
                  <a:pt x="7315200" y="904425"/>
                </a:lnTo>
                <a:lnTo>
                  <a:pt x="7315200" y="0"/>
                </a:lnTo>
                <a:lnTo>
                  <a:pt x="0" y="0"/>
                </a:lnTo>
                <a:lnTo>
                  <a:pt x="0" y="90442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818354" y="3017792"/>
            <a:ext cx="15121080" cy="3489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492808"/>
                </a:solidFill>
                <a:latin typeface="Belleza"/>
                <a:ea typeface="Belleza"/>
                <a:cs typeface="Belleza"/>
                <a:sym typeface="Belleza"/>
              </a:rPr>
              <a:t>What does pizza have to do with immigration history?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429219" y="42954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742992" y="42954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429714" y="574241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3743486" y="574241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485905" y="283915"/>
            <a:ext cx="7315200" cy="904425"/>
          </a:xfrm>
          <a:custGeom>
            <a:avLst/>
            <a:gdLst/>
            <a:ahLst/>
            <a:cxnLst/>
            <a:rect r="r" b="b" t="t" l="l"/>
            <a:pathLst>
              <a:path h="904425" w="7315200">
                <a:moveTo>
                  <a:pt x="0" y="0"/>
                </a:moveTo>
                <a:lnTo>
                  <a:pt x="7315200" y="0"/>
                </a:lnTo>
                <a:lnTo>
                  <a:pt x="7315200" y="904425"/>
                </a:lnTo>
                <a:lnTo>
                  <a:pt x="0" y="9044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5486400" y="9094830"/>
            <a:ext cx="7315200" cy="904425"/>
          </a:xfrm>
          <a:custGeom>
            <a:avLst/>
            <a:gdLst/>
            <a:ahLst/>
            <a:cxnLst/>
            <a:rect r="r" b="b" t="t" l="l"/>
            <a:pathLst>
              <a:path h="904425" w="7315200">
                <a:moveTo>
                  <a:pt x="0" y="904425"/>
                </a:moveTo>
                <a:lnTo>
                  <a:pt x="7315200" y="904425"/>
                </a:lnTo>
                <a:lnTo>
                  <a:pt x="7315200" y="0"/>
                </a:lnTo>
                <a:lnTo>
                  <a:pt x="0" y="0"/>
                </a:lnTo>
                <a:lnTo>
                  <a:pt x="0" y="90442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83460" y="1268729"/>
            <a:ext cx="15121080" cy="171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492808"/>
                </a:solidFill>
                <a:latin typeface="Belleza"/>
                <a:ea typeface="Belleza"/>
                <a:cs typeface="Belleza"/>
                <a:sym typeface="Belleza"/>
              </a:rPr>
              <a:t>Think-Pair-Share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73468" y="3760957"/>
            <a:ext cx="14531072" cy="3877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55095" indent="-477547" lvl="1">
              <a:lnSpc>
                <a:spcPts val="6193"/>
              </a:lnSpc>
              <a:buFont typeface="Arial"/>
              <a:buChar char="•"/>
            </a:pPr>
            <a:r>
              <a:rPr lang="en-US" sz="4423">
                <a:solidFill>
                  <a:srgbClr val="492808"/>
                </a:solidFill>
                <a:latin typeface="Canva Sans"/>
                <a:ea typeface="Canva Sans"/>
                <a:cs typeface="Canva Sans"/>
                <a:sym typeface="Canva Sans"/>
              </a:rPr>
              <a:t>What </a:t>
            </a:r>
            <a:r>
              <a:rPr lang="en-US" sz="4423">
                <a:solidFill>
                  <a:srgbClr val="492808"/>
                </a:solidFill>
                <a:latin typeface="Canva Sans"/>
                <a:ea typeface="Canva Sans"/>
                <a:cs typeface="Canva Sans"/>
                <a:sym typeface="Canva Sans"/>
              </a:rPr>
              <a:t>do you notice?</a:t>
            </a:r>
          </a:p>
          <a:p>
            <a:pPr algn="l" marL="955095" indent="-477547" lvl="1">
              <a:lnSpc>
                <a:spcPts val="6193"/>
              </a:lnSpc>
              <a:buFont typeface="Arial"/>
              <a:buChar char="•"/>
            </a:pPr>
            <a:r>
              <a:rPr lang="en-US" sz="4423">
                <a:solidFill>
                  <a:srgbClr val="492808"/>
                </a:solidFill>
                <a:latin typeface="Canva Sans"/>
                <a:ea typeface="Canva Sans"/>
                <a:cs typeface="Canva Sans"/>
                <a:sym typeface="Canva Sans"/>
              </a:rPr>
              <a:t>Who is in the images?</a:t>
            </a:r>
          </a:p>
          <a:p>
            <a:pPr algn="l" marL="955095" indent="-477547" lvl="1">
              <a:lnSpc>
                <a:spcPts val="6193"/>
              </a:lnSpc>
              <a:buFont typeface="Arial"/>
              <a:buChar char="•"/>
            </a:pPr>
            <a:r>
              <a:rPr lang="en-US" sz="4423">
                <a:solidFill>
                  <a:srgbClr val="492808"/>
                </a:solidFill>
                <a:latin typeface="Canva Sans"/>
                <a:ea typeface="Canva Sans"/>
                <a:cs typeface="Canva Sans"/>
                <a:sym typeface="Canva Sans"/>
              </a:rPr>
              <a:t>What is the setting, and what are the people doing?</a:t>
            </a:r>
          </a:p>
          <a:p>
            <a:pPr algn="l">
              <a:lnSpc>
                <a:spcPts val="6193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429219" y="42954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742992" y="42954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429714" y="574241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3743486" y="574241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485905" y="283915"/>
            <a:ext cx="7315200" cy="904425"/>
          </a:xfrm>
          <a:custGeom>
            <a:avLst/>
            <a:gdLst/>
            <a:ahLst/>
            <a:cxnLst/>
            <a:rect r="r" b="b" t="t" l="l"/>
            <a:pathLst>
              <a:path h="904425" w="7315200">
                <a:moveTo>
                  <a:pt x="0" y="0"/>
                </a:moveTo>
                <a:lnTo>
                  <a:pt x="7315200" y="0"/>
                </a:lnTo>
                <a:lnTo>
                  <a:pt x="7315200" y="904425"/>
                </a:lnTo>
                <a:lnTo>
                  <a:pt x="0" y="9044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5486400" y="9094830"/>
            <a:ext cx="7315200" cy="904425"/>
          </a:xfrm>
          <a:custGeom>
            <a:avLst/>
            <a:gdLst/>
            <a:ahLst/>
            <a:cxnLst/>
            <a:rect r="r" b="b" t="t" l="l"/>
            <a:pathLst>
              <a:path h="904425" w="7315200">
                <a:moveTo>
                  <a:pt x="0" y="904425"/>
                </a:moveTo>
                <a:lnTo>
                  <a:pt x="7315200" y="904425"/>
                </a:lnTo>
                <a:lnTo>
                  <a:pt x="7315200" y="0"/>
                </a:lnTo>
                <a:lnTo>
                  <a:pt x="0" y="0"/>
                </a:lnTo>
                <a:lnTo>
                  <a:pt x="0" y="90442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929887" y="3516321"/>
            <a:ext cx="6086712" cy="4070489"/>
          </a:xfrm>
          <a:custGeom>
            <a:avLst/>
            <a:gdLst/>
            <a:ahLst/>
            <a:cxnLst/>
            <a:rect r="r" b="b" t="t" l="l"/>
            <a:pathLst>
              <a:path h="4070489" w="6086712">
                <a:moveTo>
                  <a:pt x="0" y="0"/>
                </a:moveTo>
                <a:lnTo>
                  <a:pt x="6086711" y="0"/>
                </a:lnTo>
                <a:lnTo>
                  <a:pt x="6086711" y="4070488"/>
                </a:lnTo>
                <a:lnTo>
                  <a:pt x="0" y="40704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895519" y="1165843"/>
            <a:ext cx="15121080" cy="171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492808"/>
                </a:solidFill>
                <a:latin typeface="Belleza"/>
                <a:ea typeface="Belleza"/>
                <a:cs typeface="Belleza"/>
                <a:sym typeface="Belleza"/>
              </a:rPr>
              <a:t>Waves of Italian Immigration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58830" y="3208066"/>
            <a:ext cx="10041018" cy="4591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49566" indent="-474783" lvl="1">
              <a:lnSpc>
                <a:spcPts val="6157"/>
              </a:lnSpc>
              <a:buFont typeface="Arial"/>
              <a:buChar char="•"/>
            </a:pPr>
            <a:r>
              <a:rPr lang="en-US" sz="4398">
                <a:solidFill>
                  <a:srgbClr val="49280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Arrived in Canada and the United States in two waves during the late nineteenth and twentieth centuries.</a:t>
            </a:r>
          </a:p>
          <a:p>
            <a:pPr algn="l" marL="949566" indent="-474783" lvl="1">
              <a:lnSpc>
                <a:spcPts val="6157"/>
              </a:lnSpc>
              <a:buFont typeface="Arial"/>
              <a:buChar char="•"/>
            </a:pPr>
            <a:r>
              <a:rPr lang="en-US" sz="4398">
                <a:solidFill>
                  <a:srgbClr val="49280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Driven by economic opportunities.</a:t>
            </a:r>
          </a:p>
          <a:p>
            <a:pPr algn="l" marL="949566" indent="-474783" lvl="1">
              <a:lnSpc>
                <a:spcPts val="6157"/>
              </a:lnSpc>
              <a:buFont typeface="Arial"/>
              <a:buChar char="•"/>
            </a:pPr>
            <a:r>
              <a:rPr lang="en-US" sz="4398">
                <a:solidFill>
                  <a:srgbClr val="49280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First wave- Early 1900s to World War I</a:t>
            </a:r>
          </a:p>
          <a:p>
            <a:pPr algn="l" marL="949566" indent="-474783" lvl="1">
              <a:lnSpc>
                <a:spcPts val="6157"/>
              </a:lnSpc>
              <a:buFont typeface="Arial"/>
              <a:buChar char="•"/>
            </a:pPr>
            <a:r>
              <a:rPr lang="en-US" sz="4398">
                <a:solidFill>
                  <a:srgbClr val="49280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Second wave- Post World War II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929887" y="7529659"/>
            <a:ext cx="5048645" cy="800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4"/>
              </a:lnSpc>
            </a:pPr>
            <a:r>
              <a:rPr lang="en-US" sz="2295">
                <a:solidFill>
                  <a:srgbClr val="49280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Memories of Brantford- Stephanie Family arrives at Pier 21 from Naples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429219" y="42954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742992" y="42954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429714" y="574241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3743486" y="574241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485905" y="283915"/>
            <a:ext cx="7315200" cy="904425"/>
          </a:xfrm>
          <a:custGeom>
            <a:avLst/>
            <a:gdLst/>
            <a:ahLst/>
            <a:cxnLst/>
            <a:rect r="r" b="b" t="t" l="l"/>
            <a:pathLst>
              <a:path h="904425" w="7315200">
                <a:moveTo>
                  <a:pt x="0" y="0"/>
                </a:moveTo>
                <a:lnTo>
                  <a:pt x="7315200" y="0"/>
                </a:lnTo>
                <a:lnTo>
                  <a:pt x="7315200" y="904425"/>
                </a:lnTo>
                <a:lnTo>
                  <a:pt x="0" y="9044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5486400" y="9094830"/>
            <a:ext cx="7315200" cy="904425"/>
          </a:xfrm>
          <a:custGeom>
            <a:avLst/>
            <a:gdLst/>
            <a:ahLst/>
            <a:cxnLst/>
            <a:rect r="r" b="b" t="t" l="l"/>
            <a:pathLst>
              <a:path h="904425" w="7315200">
                <a:moveTo>
                  <a:pt x="0" y="904425"/>
                </a:moveTo>
                <a:lnTo>
                  <a:pt x="7315200" y="904425"/>
                </a:lnTo>
                <a:lnTo>
                  <a:pt x="7315200" y="0"/>
                </a:lnTo>
                <a:lnTo>
                  <a:pt x="0" y="0"/>
                </a:lnTo>
                <a:lnTo>
                  <a:pt x="0" y="90442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457307" y="2486945"/>
            <a:ext cx="4571370" cy="5884982"/>
          </a:xfrm>
          <a:custGeom>
            <a:avLst/>
            <a:gdLst/>
            <a:ahLst/>
            <a:cxnLst/>
            <a:rect r="r" b="b" t="t" l="l"/>
            <a:pathLst>
              <a:path h="5884982" w="4571370">
                <a:moveTo>
                  <a:pt x="0" y="0"/>
                </a:moveTo>
                <a:lnTo>
                  <a:pt x="4571370" y="0"/>
                </a:lnTo>
                <a:lnTo>
                  <a:pt x="4571370" y="5884983"/>
                </a:lnTo>
                <a:lnTo>
                  <a:pt x="0" y="58849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223098" y="857250"/>
            <a:ext cx="13577789" cy="138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492808"/>
                </a:solidFill>
                <a:latin typeface="Belleza"/>
                <a:ea typeface="Belleza"/>
                <a:cs typeface="Belleza"/>
                <a:sym typeface="Belleza"/>
              </a:rPr>
              <a:t>First Wave of Italian Immigration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74727" y="2410745"/>
            <a:ext cx="9193078" cy="6820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6207" indent="-423103" lvl="1">
              <a:lnSpc>
                <a:spcPts val="5487"/>
              </a:lnSpc>
              <a:buFont typeface="Arial"/>
              <a:buChar char="•"/>
            </a:pPr>
            <a:r>
              <a:rPr lang="en-US" sz="3919">
                <a:solidFill>
                  <a:srgbClr val="49280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Migrants arrived in search of employment.</a:t>
            </a:r>
          </a:p>
          <a:p>
            <a:pPr algn="l" marL="846207" indent="-423103" lvl="1">
              <a:lnSpc>
                <a:spcPts val="5487"/>
              </a:lnSpc>
              <a:buFont typeface="Arial"/>
              <a:buChar char="•"/>
            </a:pPr>
            <a:r>
              <a:rPr lang="en-US" sz="3919">
                <a:solidFill>
                  <a:srgbClr val="49280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Employment opportunities included:</a:t>
            </a:r>
          </a:p>
          <a:p>
            <a:pPr algn="l" marL="2538620" indent="-634655" lvl="3">
              <a:lnSpc>
                <a:spcPts val="5487"/>
              </a:lnSpc>
              <a:buFont typeface="Arial"/>
              <a:buChar char="￭"/>
            </a:pPr>
            <a:r>
              <a:rPr lang="en-US" sz="3919">
                <a:solidFill>
                  <a:srgbClr val="49280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Building transcontinental railroads</a:t>
            </a:r>
          </a:p>
          <a:p>
            <a:pPr algn="l" marL="2538620" indent="-634655" lvl="3">
              <a:lnSpc>
                <a:spcPts val="5487"/>
              </a:lnSpc>
              <a:buFont typeface="Arial"/>
              <a:buChar char="￭"/>
            </a:pPr>
            <a:r>
              <a:rPr lang="en-US" sz="3919">
                <a:solidFill>
                  <a:srgbClr val="49280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Work on grain elevators</a:t>
            </a:r>
          </a:p>
          <a:p>
            <a:pPr algn="l" marL="2538620" indent="-634655" lvl="3">
              <a:lnSpc>
                <a:spcPts val="5487"/>
              </a:lnSpc>
              <a:buFont typeface="Arial"/>
              <a:buChar char="￭"/>
            </a:pPr>
            <a:r>
              <a:rPr lang="en-US" sz="3919">
                <a:solidFill>
                  <a:srgbClr val="49280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Work in mines</a:t>
            </a:r>
          </a:p>
          <a:p>
            <a:pPr algn="l" marL="2538620" indent="-634655" lvl="3">
              <a:lnSpc>
                <a:spcPts val="5487"/>
              </a:lnSpc>
              <a:buFont typeface="Arial"/>
              <a:buChar char="￭"/>
            </a:pPr>
            <a:r>
              <a:rPr lang="en-US" sz="3919">
                <a:solidFill>
                  <a:srgbClr val="49280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Work as tradesmen</a:t>
            </a:r>
          </a:p>
          <a:p>
            <a:pPr algn="l" marL="846207" indent="-423103" lvl="1">
              <a:lnSpc>
                <a:spcPts val="5487"/>
              </a:lnSpc>
              <a:buFont typeface="Arial"/>
              <a:buChar char="•"/>
            </a:pPr>
            <a:r>
              <a:rPr lang="en-US" sz="3919">
                <a:solidFill>
                  <a:srgbClr val="49280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Work was harsh and often dangerous</a:t>
            </a:r>
          </a:p>
          <a:p>
            <a:pPr algn="l" marL="846207" indent="-423103" lvl="1">
              <a:lnSpc>
                <a:spcPts val="5487"/>
              </a:lnSpc>
              <a:buFont typeface="Arial"/>
              <a:buChar char="•"/>
            </a:pPr>
            <a:r>
              <a:rPr lang="en-US" sz="3919">
                <a:solidFill>
                  <a:srgbClr val="49280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Faced discrimination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067805" y="8441960"/>
            <a:ext cx="5785413" cy="597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8"/>
              </a:lnSpc>
            </a:pPr>
            <a:r>
              <a:rPr lang="en-US" sz="1727">
                <a:solidFill>
                  <a:srgbClr val="49280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Italian Workers constructing a sewe</a:t>
            </a:r>
            <a:r>
              <a:rPr lang="en-US" sz="1727">
                <a:solidFill>
                  <a:srgbClr val="49280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 (MHSO Collection, 1896-1914/ITA- 200373), photographer</a:t>
            </a:r>
            <a:r>
              <a:rPr lang="en-US" sz="1727">
                <a:solidFill>
                  <a:srgbClr val="49280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unknown.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429219" y="42954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742992" y="42954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429714" y="574241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3743486" y="574241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485905" y="283915"/>
            <a:ext cx="7315200" cy="904425"/>
          </a:xfrm>
          <a:custGeom>
            <a:avLst/>
            <a:gdLst/>
            <a:ahLst/>
            <a:cxnLst/>
            <a:rect r="r" b="b" t="t" l="l"/>
            <a:pathLst>
              <a:path h="904425" w="7315200">
                <a:moveTo>
                  <a:pt x="0" y="0"/>
                </a:moveTo>
                <a:lnTo>
                  <a:pt x="7315200" y="0"/>
                </a:lnTo>
                <a:lnTo>
                  <a:pt x="7315200" y="904425"/>
                </a:lnTo>
                <a:lnTo>
                  <a:pt x="0" y="9044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5486400" y="9094830"/>
            <a:ext cx="7315200" cy="904425"/>
          </a:xfrm>
          <a:custGeom>
            <a:avLst/>
            <a:gdLst/>
            <a:ahLst/>
            <a:cxnLst/>
            <a:rect r="r" b="b" t="t" l="l"/>
            <a:pathLst>
              <a:path h="904425" w="7315200">
                <a:moveTo>
                  <a:pt x="0" y="904425"/>
                </a:moveTo>
                <a:lnTo>
                  <a:pt x="7315200" y="904425"/>
                </a:lnTo>
                <a:lnTo>
                  <a:pt x="7315200" y="0"/>
                </a:lnTo>
                <a:lnTo>
                  <a:pt x="0" y="0"/>
                </a:lnTo>
                <a:lnTo>
                  <a:pt x="0" y="90442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365330" y="5276487"/>
            <a:ext cx="9556351" cy="3981813"/>
          </a:xfrm>
          <a:custGeom>
            <a:avLst/>
            <a:gdLst/>
            <a:ahLst/>
            <a:cxnLst/>
            <a:rect r="r" b="b" t="t" l="l"/>
            <a:pathLst>
              <a:path h="3981813" w="9556351">
                <a:moveTo>
                  <a:pt x="0" y="0"/>
                </a:moveTo>
                <a:lnTo>
                  <a:pt x="9556351" y="0"/>
                </a:lnTo>
                <a:lnTo>
                  <a:pt x="9556351" y="3981813"/>
                </a:lnTo>
                <a:lnTo>
                  <a:pt x="0" y="398181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355106" y="1099471"/>
            <a:ext cx="13577789" cy="138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492808"/>
                </a:solidFill>
                <a:latin typeface="Belleza"/>
                <a:ea typeface="Belleza"/>
                <a:cs typeface="Belleza"/>
                <a:sym typeface="Belleza"/>
              </a:rPr>
              <a:t>Italian Immigrants in Ontario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17117" y="2437083"/>
            <a:ext cx="15499939" cy="2742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1915" indent="-340957" lvl="1">
              <a:lnSpc>
                <a:spcPts val="4421"/>
              </a:lnSpc>
              <a:buFont typeface="Arial"/>
              <a:buChar char="•"/>
            </a:pPr>
            <a:r>
              <a:rPr lang="en-US" sz="3158">
                <a:solidFill>
                  <a:srgbClr val="49280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60,000 Italian immigrants settled in Ontario</a:t>
            </a:r>
          </a:p>
          <a:p>
            <a:pPr algn="l" marL="681915" indent="-340957" lvl="1">
              <a:lnSpc>
                <a:spcPts val="4421"/>
              </a:lnSpc>
              <a:buFont typeface="Arial"/>
              <a:buChar char="•"/>
            </a:pPr>
            <a:r>
              <a:rPr lang="en-US" sz="3158">
                <a:solidFill>
                  <a:srgbClr val="49280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Many immigrants came for temporary positions</a:t>
            </a:r>
          </a:p>
          <a:p>
            <a:pPr algn="l" marL="681915" indent="-340957" lvl="1">
              <a:lnSpc>
                <a:spcPts val="4421"/>
              </a:lnSpc>
              <a:buFont typeface="Arial"/>
              <a:buChar char="•"/>
            </a:pPr>
            <a:r>
              <a:rPr lang="en-US" sz="3158">
                <a:solidFill>
                  <a:srgbClr val="49280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Immigrants often moved to cities like Windsor due to its proximity to Detroit</a:t>
            </a:r>
          </a:p>
          <a:p>
            <a:pPr algn="l" marL="1363829" indent="-454610" lvl="2">
              <a:lnSpc>
                <a:spcPts val="4421"/>
              </a:lnSpc>
              <a:buFont typeface="Arial"/>
              <a:buChar char="⚬"/>
            </a:pPr>
            <a:r>
              <a:rPr lang="en-US" sz="3158">
                <a:solidFill>
                  <a:srgbClr val="49280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Worked in the automotive and construction industries.</a:t>
            </a:r>
          </a:p>
          <a:p>
            <a:pPr algn="l" marL="1363829" indent="-454610" lvl="2">
              <a:lnSpc>
                <a:spcPts val="4421"/>
              </a:lnSpc>
              <a:buFont typeface="Arial"/>
              <a:buChar char="⚬"/>
            </a:pPr>
            <a:r>
              <a:rPr lang="en-US" sz="3158">
                <a:solidFill>
                  <a:srgbClr val="49280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Often started their own businesses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429219" y="42954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742992" y="42954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429714" y="574241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3743486" y="574241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485905" y="283915"/>
            <a:ext cx="7315200" cy="904425"/>
          </a:xfrm>
          <a:custGeom>
            <a:avLst/>
            <a:gdLst/>
            <a:ahLst/>
            <a:cxnLst/>
            <a:rect r="r" b="b" t="t" l="l"/>
            <a:pathLst>
              <a:path h="904425" w="7315200">
                <a:moveTo>
                  <a:pt x="0" y="0"/>
                </a:moveTo>
                <a:lnTo>
                  <a:pt x="7315200" y="0"/>
                </a:lnTo>
                <a:lnTo>
                  <a:pt x="7315200" y="904425"/>
                </a:lnTo>
                <a:lnTo>
                  <a:pt x="0" y="9044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5486400" y="9094830"/>
            <a:ext cx="7315200" cy="904425"/>
          </a:xfrm>
          <a:custGeom>
            <a:avLst/>
            <a:gdLst/>
            <a:ahLst/>
            <a:cxnLst/>
            <a:rect r="r" b="b" t="t" l="l"/>
            <a:pathLst>
              <a:path h="904425" w="7315200">
                <a:moveTo>
                  <a:pt x="0" y="904425"/>
                </a:moveTo>
                <a:lnTo>
                  <a:pt x="7315200" y="904425"/>
                </a:lnTo>
                <a:lnTo>
                  <a:pt x="7315200" y="0"/>
                </a:lnTo>
                <a:lnTo>
                  <a:pt x="0" y="0"/>
                </a:lnTo>
                <a:lnTo>
                  <a:pt x="0" y="90442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548112" y="2987444"/>
            <a:ext cx="7069292" cy="4477218"/>
          </a:xfrm>
          <a:custGeom>
            <a:avLst/>
            <a:gdLst/>
            <a:ahLst/>
            <a:cxnLst/>
            <a:rect r="r" b="b" t="t" l="l"/>
            <a:pathLst>
              <a:path h="4477218" w="7069292">
                <a:moveTo>
                  <a:pt x="0" y="0"/>
                </a:moveTo>
                <a:lnTo>
                  <a:pt x="7069292" y="0"/>
                </a:lnTo>
                <a:lnTo>
                  <a:pt x="7069292" y="4477218"/>
                </a:lnTo>
                <a:lnTo>
                  <a:pt x="0" y="44772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958497" y="1814599"/>
            <a:ext cx="7185503" cy="236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80"/>
              </a:lnSpc>
            </a:pPr>
            <a:r>
              <a:rPr lang="en-US" sz="8000">
                <a:solidFill>
                  <a:srgbClr val="492808"/>
                </a:solidFill>
                <a:latin typeface="Belleza"/>
                <a:ea typeface="Belleza"/>
                <a:cs typeface="Belleza"/>
                <a:sym typeface="Belleza"/>
              </a:rPr>
              <a:t>Community and Culture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13506" y="4654999"/>
            <a:ext cx="7995544" cy="3878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56504" indent="-478252" lvl="1">
              <a:lnSpc>
                <a:spcPts val="6202"/>
              </a:lnSpc>
              <a:buFont typeface="Arial"/>
              <a:buChar char="•"/>
            </a:pPr>
            <a:r>
              <a:rPr lang="en-US" sz="4430">
                <a:solidFill>
                  <a:srgbClr val="49280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</a:t>
            </a:r>
            <a:r>
              <a:rPr lang="en-US" sz="4430">
                <a:solidFill>
                  <a:srgbClr val="49280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ommunity life developed through:</a:t>
            </a:r>
          </a:p>
          <a:p>
            <a:pPr algn="l" marL="1913008" indent="-637669" lvl="2">
              <a:lnSpc>
                <a:spcPts val="6202"/>
              </a:lnSpc>
              <a:buFont typeface="Arial"/>
              <a:buChar char="⚬"/>
            </a:pPr>
            <a:r>
              <a:rPr lang="en-US" sz="4430">
                <a:solidFill>
                  <a:srgbClr val="49280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Family networks</a:t>
            </a:r>
          </a:p>
          <a:p>
            <a:pPr algn="l" marL="1913008" indent="-637669" lvl="2">
              <a:lnSpc>
                <a:spcPts val="6202"/>
              </a:lnSpc>
              <a:buFont typeface="Arial"/>
              <a:buChar char="⚬"/>
            </a:pPr>
            <a:r>
              <a:rPr lang="en-US" sz="4430">
                <a:solidFill>
                  <a:srgbClr val="49280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Shared culture</a:t>
            </a:r>
          </a:p>
          <a:p>
            <a:pPr algn="l" marL="1913008" indent="-637669" lvl="2">
              <a:lnSpc>
                <a:spcPts val="6202"/>
              </a:lnSpc>
              <a:buFont typeface="Arial"/>
              <a:buChar char="⚬"/>
            </a:pPr>
            <a:r>
              <a:rPr lang="en-US" sz="4430">
                <a:solidFill>
                  <a:srgbClr val="49280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Small businesses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09050" y="7752189"/>
            <a:ext cx="7423845" cy="113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8"/>
              </a:lnSpc>
            </a:pPr>
            <a:r>
              <a:rPr lang="en-US" sz="2163">
                <a:solidFill>
                  <a:srgbClr val="49280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Mari</a:t>
            </a:r>
            <a:r>
              <a:rPr lang="en-US" sz="2163">
                <a:solidFill>
                  <a:srgbClr val="49280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o's Restaurant, Windsor, Ontario, Canada (1935). Postcard from Mike Skreptak Collection. Retrieved from Leddy Library, University of Windsor.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DAHLXSlMQKg</dc:identifier>
  <dcterms:modified xsi:type="dcterms:W3CDTF">2011-08-01T06:04:30Z</dcterms:modified>
  <cp:revision>1</cp:revision>
  <dc:title>files/EarlyItalianImmigrationtoCanadaSlides</dc:title>
</cp:coreProperties>
</file>