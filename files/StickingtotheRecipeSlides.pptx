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Noto Serif Display ExtraCondensed" charset="1" panose="02020506080505020204"/>
      <p:regular r:id="rId9"/>
    </p:embeddedFont>
    <p:embeddedFont>
      <p:font typeface="Helvetica World" charset="1" panose="020B05000400000200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733704"/>
            <a:ext cx="7315200" cy="3524596"/>
          </a:xfrm>
          <a:custGeom>
            <a:avLst/>
            <a:gdLst/>
            <a:ahLst/>
            <a:cxnLst/>
            <a:rect r="r" b="b" t="t" l="l"/>
            <a:pathLst>
              <a:path h="3524596" w="7315200">
                <a:moveTo>
                  <a:pt x="0" y="0"/>
                </a:moveTo>
                <a:lnTo>
                  <a:pt x="7315200" y="0"/>
                </a:lnTo>
                <a:lnTo>
                  <a:pt x="7315200" y="3524596"/>
                </a:lnTo>
                <a:lnTo>
                  <a:pt x="0" y="3524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3949" y="1719168"/>
            <a:ext cx="17924051" cy="247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83"/>
              </a:lnSpc>
              <a:spcBef>
                <a:spcPct val="0"/>
              </a:spcBef>
            </a:pPr>
            <a:r>
              <a:rPr lang="en-US" sz="14416" spc="-619">
                <a:solidFill>
                  <a:srgbClr val="097D4C"/>
                </a:solidFill>
                <a:latin typeface="Noto Serif Display ExtraCondensed"/>
                <a:ea typeface="Noto Serif Display ExtraCondensed"/>
                <a:cs typeface="Noto Serif Display ExtraCondensed"/>
                <a:sym typeface="Noto Serif Display ExtraCondensed"/>
              </a:rPr>
              <a:t>STICKING TO THE RECIPE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9944100" y="5733704"/>
            <a:ext cx="7315200" cy="3524596"/>
          </a:xfrm>
          <a:custGeom>
            <a:avLst/>
            <a:gdLst/>
            <a:ahLst/>
            <a:cxnLst/>
            <a:rect r="r" b="b" t="t" l="l"/>
            <a:pathLst>
              <a:path h="3524596" w="7315200">
                <a:moveTo>
                  <a:pt x="7315200" y="0"/>
                </a:moveTo>
                <a:lnTo>
                  <a:pt x="0" y="0"/>
                </a:lnTo>
                <a:lnTo>
                  <a:pt x="0" y="3524596"/>
                </a:lnTo>
                <a:lnTo>
                  <a:pt x="7315200" y="352459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6705544" y="4002528"/>
            <a:ext cx="925113" cy="1356832"/>
          </a:xfrm>
          <a:custGeom>
            <a:avLst/>
            <a:gdLst/>
            <a:ahLst/>
            <a:cxnLst/>
            <a:rect r="r" b="b" t="t" l="l"/>
            <a:pathLst>
              <a:path h="1356832" w="925113">
                <a:moveTo>
                  <a:pt x="0" y="0"/>
                </a:moveTo>
                <a:lnTo>
                  <a:pt x="925113" y="0"/>
                </a:lnTo>
                <a:lnTo>
                  <a:pt x="925113" y="1356832"/>
                </a:lnTo>
                <a:lnTo>
                  <a:pt x="0" y="1356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78829" y="3721906"/>
            <a:ext cx="3750605" cy="6356958"/>
          </a:xfrm>
          <a:custGeom>
            <a:avLst/>
            <a:gdLst/>
            <a:ahLst/>
            <a:cxnLst/>
            <a:rect r="r" b="b" t="t" l="l"/>
            <a:pathLst>
              <a:path h="6356958" w="3750605">
                <a:moveTo>
                  <a:pt x="0" y="0"/>
                </a:moveTo>
                <a:lnTo>
                  <a:pt x="3750605" y="0"/>
                </a:lnTo>
                <a:lnTo>
                  <a:pt x="375060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39871" y="4872594"/>
            <a:ext cx="5148345" cy="3146926"/>
          </a:xfrm>
          <a:custGeom>
            <a:avLst/>
            <a:gdLst/>
            <a:ahLst/>
            <a:cxnLst/>
            <a:rect r="r" b="b" t="t" l="l"/>
            <a:pathLst>
              <a:path h="3146926" w="5148345">
                <a:moveTo>
                  <a:pt x="0" y="0"/>
                </a:moveTo>
                <a:lnTo>
                  <a:pt x="5148345" y="0"/>
                </a:lnTo>
                <a:lnTo>
                  <a:pt x="5148345" y="3146926"/>
                </a:lnTo>
                <a:lnTo>
                  <a:pt x="0" y="3146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76225"/>
            <a:ext cx="16598693" cy="36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51"/>
              </a:lnSpc>
            </a:pPr>
            <a:r>
              <a:rPr lang="en-US" sz="14051" spc="-576">
                <a:solidFill>
                  <a:srgbClr val="097D4C"/>
                </a:solidFill>
                <a:latin typeface="Noto Serif Display ExtraCondensed"/>
                <a:ea typeface="Noto Serif Display ExtraCondensed"/>
                <a:cs typeface="Noto Serif Display ExtraCondensed"/>
                <a:sym typeface="Noto Serif Display ExtraCondensed"/>
              </a:rPr>
              <a:t>Comparison Between Local and Chain Pizza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44166"/>
            <a:ext cx="4853038" cy="454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399" indent="-350700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Windsor has at least 62 locally owned and operated pizzerias that all follow Windsor-style pizza.</a:t>
            </a:r>
          </a:p>
          <a:p>
            <a:pPr algn="l" marL="701399" indent="-350700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comparison, there are only 46 big chain pizzerias.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49711" y="2678704"/>
            <a:ext cx="8577682" cy="5854268"/>
          </a:xfrm>
          <a:custGeom>
            <a:avLst/>
            <a:gdLst/>
            <a:ahLst/>
            <a:cxnLst/>
            <a:rect r="r" b="b" t="t" l="l"/>
            <a:pathLst>
              <a:path h="5854268" w="8577682">
                <a:moveTo>
                  <a:pt x="0" y="0"/>
                </a:moveTo>
                <a:lnTo>
                  <a:pt x="8577682" y="0"/>
                </a:lnTo>
                <a:lnTo>
                  <a:pt x="8577682" y="5854268"/>
                </a:lnTo>
                <a:lnTo>
                  <a:pt x="0" y="5854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6225"/>
            <a:ext cx="16598693" cy="186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51"/>
              </a:lnSpc>
            </a:pPr>
            <a:r>
              <a:rPr lang="en-US" sz="14051" spc="-576">
                <a:solidFill>
                  <a:srgbClr val="097D4C"/>
                </a:solidFill>
                <a:latin typeface="Noto Serif Display ExtraCondensed"/>
                <a:ea typeface="Noto Serif Display ExtraCondensed"/>
                <a:cs typeface="Noto Serif Display ExtraCondensed"/>
                <a:sym typeface="Noto Serif Display ExtraCondensed"/>
              </a:rPr>
              <a:t>The Pizza War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1297" y="2248579"/>
            <a:ext cx="7240554" cy="797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399" indent="-350700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 the early 1970s, activists warned about the “McDonaldization of America.” </a:t>
            </a:r>
          </a:p>
          <a:p>
            <a:pPr algn="l" marL="701399" indent="-350700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Many of those concerns have now become a reality as independent stores have moved out and large chains have moved in.</a:t>
            </a:r>
          </a:p>
          <a:p>
            <a:pPr algn="l" marL="701399" indent="-350700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Windsor, local pizzerias believed they would survive the arrival of the  chains because their customers preferred “home-made.”</a:t>
            </a:r>
          </a:p>
          <a:p>
            <a:pPr algn="l" marL="701399" indent="-350700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Windsor pizzerias have held strong. Although some have closed, many have expanded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98075" y="8769985"/>
            <a:ext cx="8629318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 ARTICLE ABOUT THE INVASION OF BIG CHAINS IN WINDSOR'S PIZZA INDUSTRY. RETRIEVED FROM THE WINDSOR STAR, DECEMBER 2, 1986.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DAHLhn2A8wM</dc:identifier>
  <dcterms:modified xsi:type="dcterms:W3CDTF">2011-08-01T06:04:30Z</dcterms:modified>
  <cp:revision>1</cp:revision>
  <dc:title>StickingtotheRecipeSlides</dc:title>
</cp:coreProperties>
</file>